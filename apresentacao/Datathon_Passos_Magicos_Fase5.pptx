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 fase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[&gt;=5]0&quot;%&quot;;&quot;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30.1</c:v>
                </c:pt>
                <c:pt idx="1">
                  <c:v>45.6</c:v>
                </c:pt>
                <c:pt idx="2">
                  <c:v>53.8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Moderada</c:v>
                </c:pt>
              </c:strCache>
            </c:strRef>
          </c:tx>
          <c:spPr>
            <a:solidFill>
              <a:srgbClr val="F7B32B"/>
            </a:solidFill>
            <a:effectLst/>
          </c:spPr>
          <c:invertIfNegative val="0"/>
          <c:dLbls>
            <c:numFmt formatCode="[&gt;=5]0&quot;%&quot;;&quot;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66.6</c:v>
                </c:pt>
                <c:pt idx="1">
                  <c:v>53.1</c:v>
                </c:pt>
                <c:pt idx="2">
                  <c:v>45.9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Severa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[&gt;=5]0&quot;%&quot;;&quot;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3.3</c:v>
                </c:pt>
                <c:pt idx="1">
                  <c:v>1.4</c:v>
                </c:pt>
                <c:pt idx="2">
                  <c:v>0.3</c:v>
                </c:pt>
              </c:numCache>
            </c:numRef>
          </c:val>
        </c:ser>
        <c:dLbls>
          <c:numFmt formatCode="[&gt;=5]0&quot;%&quot;;&quot;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B7C3D0"/>
            </a:solidFill>
            <a:ln w="31750" cap="flat">
              <a:solidFill>
                <a:srgbClr val="B7C3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7C3D0"/>
              </a:solidFill>
              <a:ln w="9525" cap="flat">
                <a:solidFill>
                  <a:srgbClr val="B7C3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Alfa</c:v>
                  </c:pt>
                  <c:pt idx="1">
                    <c:v>F1</c:v>
                  </c:pt>
                  <c:pt idx="2">
                    <c:v>F2</c:v>
                  </c:pt>
                  <c:pt idx="3">
                    <c:v>F3</c:v>
                  </c:pt>
                  <c:pt idx="4">
                    <c:v>F4</c:v>
                  </c:pt>
                  <c:pt idx="5">
                    <c:v>F5</c:v>
                  </c:pt>
                  <c:pt idx="6">
                    <c:v>F6</c:v>
                  </c:pt>
                  <c:pt idx="7">
                    <c:v>F7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7.14</c:v>
                </c:pt>
                <c:pt idx="1">
                  <c:v>6.46</c:v>
                </c:pt>
                <c:pt idx="2">
                  <c:v>5.41</c:v>
                </c:pt>
                <c:pt idx="3">
                  <c:v>5.14</c:v>
                </c:pt>
                <c:pt idx="4">
                  <c:v>6.05</c:v>
                </c:pt>
                <c:pt idx="5">
                  <c:v>5.87</c:v>
                </c:pt>
                <c:pt idx="6">
                  <c:v>6.69</c:v>
                </c:pt>
                <c:pt idx="7">
                  <c:v>5.25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7B32B"/>
            </a:solidFill>
            <a:ln w="31750" cap="flat">
              <a:solidFill>
                <a:srgbClr val="F7B3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7B32B"/>
              </a:solidFill>
              <a:ln w="9525" cap="flat">
                <a:solidFill>
                  <a:srgbClr val="F7B3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Alfa</c:v>
                  </c:pt>
                  <c:pt idx="1">
                    <c:v>F1</c:v>
                  </c:pt>
                  <c:pt idx="2">
                    <c:v>F2</c:v>
                  </c:pt>
                  <c:pt idx="3">
                    <c:v>F3</c:v>
                  </c:pt>
                  <c:pt idx="4">
                    <c:v>F4</c:v>
                  </c:pt>
                  <c:pt idx="5">
                    <c:v>F5</c:v>
                  </c:pt>
                  <c:pt idx="6">
                    <c:v>F6</c:v>
                  </c:pt>
                  <c:pt idx="7">
                    <c:v>F7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7.42</c:v>
                </c:pt>
                <c:pt idx="1">
                  <c:v>6.81</c:v>
                </c:pt>
                <c:pt idx="2">
                  <c:v>6.74</c:v>
                </c:pt>
                <c:pt idx="3">
                  <c:v>5.75</c:v>
                </c:pt>
                <c:pt idx="4">
                  <c:v>6</c:v>
                </c:pt>
                <c:pt idx="5">
                  <c:v>5.9</c:v>
                </c:pt>
                <c:pt idx="6">
                  <c:v>6.81</c:v>
                </c:pt>
                <c:pt idx="7">
                  <c:v>7.81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6508A"/>
            </a:solidFill>
            <a:ln w="31750" cap="flat">
              <a:solidFill>
                <a:srgbClr val="1650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6508A"/>
              </a:solidFill>
              <a:ln w="9525" cap="flat">
                <a:solidFill>
                  <a:srgbClr val="1650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Alfa</c:v>
                  </c:pt>
                  <c:pt idx="1">
                    <c:v>F1</c:v>
                  </c:pt>
                  <c:pt idx="2">
                    <c:v>F2</c:v>
                  </c:pt>
                  <c:pt idx="3">
                    <c:v>F3</c:v>
                  </c:pt>
                  <c:pt idx="4">
                    <c:v>F4</c:v>
                  </c:pt>
                  <c:pt idx="5">
                    <c:v>F5</c:v>
                  </c:pt>
                  <c:pt idx="6">
                    <c:v>F6</c:v>
                  </c:pt>
                  <c:pt idx="7">
                    <c:v>F7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7.32</c:v>
                </c:pt>
                <c:pt idx="1">
                  <c:v>6.79</c:v>
                </c:pt>
                <c:pt idx="2">
                  <c:v>6.25</c:v>
                </c:pt>
                <c:pt idx="3">
                  <c:v>5.35</c:v>
                </c:pt>
                <c:pt idx="4">
                  <c:v>5.88</c:v>
                </c:pt>
                <c:pt idx="5">
                  <c:v>6.45</c:v>
                </c:pt>
                <c:pt idx="6">
                  <c:v>7.23</c:v>
                </c:pt>
                <c:pt idx="7">
                  <c:v>5.81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4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4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472"/>
                    </a:solidFill>
                    <a:latin typeface="Arial"/>
                  </a:rPr>
                  <a:t>IDA médio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6472"/>
                </a:solidFill>
                <a:latin typeface="Calibri"/>
              </a:rPr>
              <a:t>IDA e IPV por quartil de engajamento (IEG)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IDA</c:v>
                </c:pt>
              </c:strCache>
            </c:strRef>
          </c:tx>
          <c:spPr>
            <a:solidFill>
              <a:srgbClr val="1650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menor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maior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</c:v>
                </c:pt>
                <c:pt idx="1">
                  <c:v>6.3</c:v>
                </c:pt>
                <c:pt idx="2">
                  <c:v>6.9</c:v>
                </c:pt>
                <c:pt idx="3">
                  <c:v>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IPV</c:v>
                </c:pt>
              </c:strCache>
            </c:strRef>
          </c:tx>
          <c:spPr>
            <a:solidFill>
              <a:srgbClr val="F586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menor</c:v>
                  </c:pt>
                  <c:pt idx="1">
                    <c:v>Q2</c:v>
                  </c:pt>
                  <c:pt idx="2">
                    <c:v>Q3</c:v>
                  </c:pt>
                  <c:pt idx="3">
                    <c:v>Q4 maior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6.7</c:v>
                </c:pt>
                <c:pt idx="1">
                  <c:v>7.4</c:v>
                </c:pt>
                <c:pt idx="2">
                  <c:v>7.9</c:v>
                </c:pt>
                <c:pt idx="3">
                  <c:v>8.2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6472"/>
                </a:solidFill>
                <a:latin typeface="Calibri"/>
              </a:rPr>
              <a:t>Distribuição das Pedras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Quartzo</c:v>
                </c:pt>
              </c:strCache>
            </c:strRef>
          </c:tx>
          <c:spPr>
            <a:solidFill>
              <a:srgbClr val="9E8E7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15.3</c:v>
                </c:pt>
                <c:pt idx="1">
                  <c:v>7.7</c:v>
                </c:pt>
                <c:pt idx="2">
                  <c:v>10.6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Ágata</c:v>
                </c:pt>
              </c:strCache>
            </c:strRef>
          </c:tx>
          <c:spPr>
            <a:solidFill>
              <a:srgbClr val="F5863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29.1</c:v>
                </c:pt>
                <c:pt idx="1">
                  <c:v>26.4</c:v>
                </c:pt>
                <c:pt idx="2">
                  <c:v>21.3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Ametista</c:v>
                </c:pt>
              </c:strCache>
            </c:strRef>
          </c:tx>
          <c:spPr>
            <a:solidFill>
              <a:srgbClr val="7B4FA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40.5</c:v>
                </c:pt>
                <c:pt idx="1">
                  <c:v>40.9</c:v>
                </c:pt>
                <c:pt idx="2">
                  <c:v>37.1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Topázio</c:v>
                </c:pt>
              </c:strCache>
            </c:strRef>
          </c:tx>
          <c:spPr>
            <a:solidFill>
              <a:srgbClr val="F7B32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15.1</c:v>
                </c:pt>
                <c:pt idx="1">
                  <c:v>24.9</c:v>
                </c:pt>
                <c:pt idx="2">
                  <c:v>30.9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6472"/>
                </a:solidFill>
                <a:latin typeface="Calibri"/>
              </a:rPr>
              <a:t>% que continua no ano seguinte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Permanência</c:v>
                </c:pt>
              </c:strCache>
            </c:strRef>
          </c:tx>
          <c:spPr>
            <a:solidFill>
              <a:srgbClr val="9E8E7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8E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86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4F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7B3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Quartzo</c:v>
                  </c:pt>
                  <c:pt idx="1">
                    <c:v>Ágata</c:v>
                  </c:pt>
                  <c:pt idx="2">
                    <c:v>Ametista</c:v>
                  </c:pt>
                  <c:pt idx="3">
                    <c:v>Topázio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64</c:v>
                </c:pt>
                <c:pt idx="2">
                  <c:v>78</c:v>
                </c:pt>
                <c:pt idx="3">
                  <c:v>84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A6472"/>
                </a:solidFill>
                <a:latin typeface="Calibri"/>
              </a:rPr>
              <a:t>O que mais pesa na previsão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Importância</c:v>
                </c:pt>
              </c:strCache>
            </c:strRef>
          </c:tx>
          <c:spPr>
            <a:solidFill>
              <a:srgbClr val="1650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Nota de Matemática</c:v>
                  </c:pt>
                  <c:pt idx="1">
                    <c:v>Anos na Passos Mágicos</c:v>
                  </c:pt>
                  <c:pt idx="2">
                    <c:v>Idade</c:v>
                  </c:pt>
                  <c:pt idx="3">
                    <c:v>IPV · ponto de virada</c:v>
                  </c:pt>
                  <c:pt idx="4">
                    <c:v>Fase atual</c:v>
                  </c:pt>
                  <c:pt idx="5">
                    <c:v>Defasagem atual</c:v>
                  </c:pt>
                  <c:pt idx="6">
                    <c:v>Defasagem projetada se não avançar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</c:v>
                </c:pt>
                <c:pt idx="1">
                  <c:v>0.46</c:v>
                </c:pt>
                <c:pt idx="2">
                  <c:v>1.14</c:v>
                </c:pt>
                <c:pt idx="3">
                  <c:v>1.24</c:v>
                </c:pt>
                <c:pt idx="4">
                  <c:v>1.72</c:v>
                </c:pt>
                <c:pt idx="5">
                  <c:v>1.87</c:v>
                </c:pt>
                <c:pt idx="6">
                  <c:v>5.33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Olá! Somos o grupo do Datathon da Fase 5. Analisamos três anos da Pesquisa Extensiva do Desenvolvimento Educacional da Passos Mágicos para responder a uma pergunta central: o programa está tirando os alunos do atraso escolar, e como antecipar quem ainda vai precisar de ajuda?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Trabalhamos com 3.030 avaliações. Limpamos inconsistências entre as abas (fase misturada com turma, idades em formato de data, autoavaliação zerada) e ligamos o mesmo aluno entre anos pelo RA: são 1.365 trajetórias. Isso nos permitiu olhar não só a foto de cada ano, mas o filme do aluno.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pergunta: a defasagem. Em 2022, sete em cada dez alunos estavam atrás da fase ideal para a idade. Em 2024, menos da metade. Os alunos em fase foram de 30 para 54 por cento e a defasagem severa praticamente desapareceu. Mas olhando aluno a aluno, 142 alunos que estavam em fase atrasaram no ano seguinte: são alunos que não avançaram de fase justamente no ano em que a idade exigia. Esse é o grupo que o nosso modelo tenta antecipar.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pergunta: o desempenho acadêmico. O IDA subiu em 2023 mas voltou a cair em 2024, puxado por Português. E em todos os anos o padrão por fase é o mesmo: o desempenho cai da Alfa até as Fases 3 e 4, do quinto ao nono ano, e volta a subir no Ensino Médio. Ou seja, o atraso diminuiu, mas o aprendizado ainda não acompanhou — e o vale está nas Fases 2 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3, 7 e 8. O engajamento é o indicador comportamental mais ligado aos resultados: quem está no quartil mais engajado tem 2,5 pontos a mais de IDA e ponto de virada bem maior. O que mais explica o ponto de virada é a avaliação psicopedagógica, seguida de engajamento e desempenho. E quando olhamos combinações, IDA mais IEG é a dupla-núcleo; somando IPS e IPP o aluno chega em média à faixa Topázio. Como o IEG é medido continuamente, ele é o termômetro mais precoce.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4, 5 e 6. A autoavaliação é alta e quase plana: quase metade dos alunos se avalia bem acima do desempenho real. Ela mede autoestima — importante — mas não serve como alerta acadêmico. O indicador psicossocial antecede quedas de engajamento: com IPS baixo, 33 por cento caem no ano seguinte, contra 19 por cento com IPS alto. É um sinal fraco, e a escala mudou em 2023. E o IPP confirma a direção da defasagem, mas separa pouco: ele mede outra coisa, e a divergência entre IAN baixo e IPP alto aponta alunos prontos para avançar de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10 e insight extra. A proporção de alunos Topázio dobrou em dois anos, de 15 para 31 por cento. Nos 441 alunos que estiveram nos três anos, a defasagem média caiu de menos 0,83 para menos 0,24: o programa corrige o atraso escolar. Mas o dado que mais nos chamou atenção é a permanência: menos da metade dos alunos Quartzo continua no ano seguinte, contra 84 por cento dos Topázio. Quem mais precisa é quem mais sai — e isso também infla a melhora agregada.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9, o modelo preditivo. Usamos só informações do ano atual para prever se o aluno estará defasado, ou com a defasagem piorando, no ciclo seguinte. Separamos treino e teste garantindo que o mesmo aluno não aparecesse nos dois, e também testamos prevendo 2024 com dados de 2022. O Random Forest teve ROC-AUC de 0.88 e sinaliza 84 por cento dos alunos que de fato entram em risco. O sinal mais forte é uma variável que criamos: a defasagem que o aluno terá se não avançar de fase. Depois vêm defasagem atual, fase, ponto de virada e 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Passos Mágicos usar no dia a dia, publicamos o modelo num app Streamlit com três abas: consulta de um aluno, previsão em lote a partir da própria planilha do PEDE, e um panorama do risco previsto para 2025. O resultado vem em quatro faixas, cada uma com uma ação sugerida, e o app explica em linguagem simples por que o aluno foi sinalizado.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cinco recomendações: rodar o modelo a cada PEDE e agir antes dos anos de transição; usar o engajamento como termômetro mensal; reforçar Matemática e Português nas Fases 2 a 4; criar um protocolo de permanência para alunos Quartzo e Ágata; e padronizar a coleta dos indicadores. Todo o código, os notebooks e o app estão no nosso GitHub.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6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411480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· FASE 5 · POSTECH DATA ANALYTICS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atraso,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virada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803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três anos de PEDE (2022–2024) revelam sobre os alunos da Passos Mágicos — e como antecipar quem vai precisar de apoio no próximo ciclo.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Cutrim Batista · João Victor Castro Rodrigues · João Victor Gomes Dominici · Luis Henrique Carvalho Shikasho · Vítor Francisco Pirani Silva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anos, o mesmo aluno acompanhado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16508A"/>
          </a:solidFill>
          <a:ln w="12700">
            <a:solidFill>
              <a:srgbClr val="1650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3.030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de alunos no PEDE 2022, 2023 e 2024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rgbClr val="F58634"/>
          </a:solidFill>
          <a:ln w="12700">
            <a:solidFill>
              <a:srgbClr val="F5863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00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1.365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trajetórias do mesmo aluno de um ano para o seguinte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463040"/>
            <a:ext cx="548640" cy="54864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→ 1</a:t>
            </a:r>
            <a:endParaRPr lang="en-US" sz="32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que compõem a nota global (INDE) e a Pedra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429000"/>
            <a:ext cx="10789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6508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35021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IAN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8587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ao nível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1645920" y="3429000"/>
            <a:ext cx="10789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6508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645920" y="35021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645920" y="38587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834640" y="3429000"/>
            <a:ext cx="10789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6508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2834640" y="35021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IEG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2834640" y="38587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023360" y="3429000"/>
            <a:ext cx="10789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F58634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023360" y="35021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8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023360" y="38587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212080" y="3429000"/>
            <a:ext cx="10789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F58634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212080" y="35021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8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IPS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5212080" y="38587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Psicossocial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400800" y="3429000"/>
            <a:ext cx="10789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400800" y="35021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IPP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6400800" y="38587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Psicopedagógico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7589520" y="3429000"/>
            <a:ext cx="107899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589520" y="3502152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IPV</a:t>
            </a:r>
            <a:endParaRPr lang="en-US" sz="1800" dirty="0"/>
          </a:p>
        </p:txBody>
      </p:sp>
      <p:sp>
        <p:nvSpPr>
          <p:cNvPr id="39" name="Text 34"/>
          <p:cNvSpPr txBox="1"/>
          <p:nvPr/>
        </p:nvSpPr>
        <p:spPr>
          <a:xfrm>
            <a:off x="7589520" y="385876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virada</a:t>
            </a:r>
            <a:endParaRPr lang="en-US" sz="950" dirty="0"/>
          </a:p>
        </p:txBody>
      </p:sp>
      <p:sp>
        <p:nvSpPr>
          <p:cNvPr id="40" name="Text 3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acadêmica   ·   psicossocial   ·   psicopedagógica  →  INDE classifica o aluno em Quartzo, Ágata, Ametista ou Topázio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Passos Mágicos · Fase 5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ADEQUAÇÃO AO NÍVEL (IAN)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defasagem caiu de 70% para 46% dos alunos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1206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43000"/>
            <a:ext cx="2926080" cy="1417320"/>
          </a:xfrm>
          <a:prstGeom prst="roundRect">
            <a:avLst>
              <a:gd name="adj" fmla="val 774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0" y="12344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alunos em fase em 2024 (eram 30% em 2022)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2743200"/>
            <a:ext cx="2926080" cy="1783080"/>
          </a:xfrm>
          <a:prstGeom prst="roundRect">
            <a:avLst>
              <a:gd name="adj" fmla="val 6154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0" y="2852928"/>
            <a:ext cx="2606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severa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zerou: 3,3% → 0,3%.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atraso nasce: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alunos em fase atrasaram por não avançar num ano de transição de idade.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Passos Mágicos · Fase 5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DESEMPENHO ACADÊMICO (IDA)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notas oscilam — e afundam entre o 5º e o 9º ano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874520" y="1234440"/>
            <a:ext cx="2057400" cy="2697480"/>
          </a:xfrm>
          <a:prstGeom prst="roundRect">
            <a:avLst>
              <a:gd name="adj" fmla="val 4444"/>
            </a:avLst>
          </a:prstGeom>
          <a:solidFill>
            <a:srgbClr val="F58634">
              <a:alpha val="12000"/>
            </a:srgbClr>
          </a:solidFill>
          <a:ln w="12700">
            <a:solidFill>
              <a:srgbClr val="F58634">
                <a:alpha val="40000"/>
              </a:srgbClr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1874520" y="1280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vale: Fases 2–4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21792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médio geral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6459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6,09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1214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1214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6,66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259689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25968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6,35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3154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de 2023 não se sustentou (Português caiu de 6,8 para 6,2). Menos atraso não virou, ainda, mais aprendizado.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Passos Mágicos · Fase 5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7 · 8 · ENGAJAMENTO, PONTO DE VIRADA E INDE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 é o motor da virada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44805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188720"/>
            <a:ext cx="502920" cy="502920"/>
          </a:xfrm>
          <a:prstGeom prst="ellipse">
            <a:avLst/>
          </a:prstGeom>
          <a:solidFill>
            <a:srgbClr val="16508A"/>
          </a:solidFill>
          <a:ln w="12700">
            <a:solidFill>
              <a:srgbClr val="1650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370" y="131445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+2,5 pontos de IDA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146304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 quartil mais e o menos engajado. Correlação IEG × IDA de 0,46 a 0,56 nos três anos.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120640" y="2359152"/>
            <a:ext cx="502920" cy="502920"/>
          </a:xfrm>
          <a:prstGeom prst="ellipse">
            <a:avLst/>
          </a:prstGeom>
          <a:solidFill>
            <a:srgbClr val="F58634"/>
          </a:solidFill>
          <a:ln w="12700">
            <a:solidFill>
              <a:srgbClr val="F5863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370" y="2484882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60720" y="2313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IPP, IEG e IDA explicam a virada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5760720" y="263347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no IPV: IPP 0,49 · IEG 0,27 · IDA 0,22. Autoavaliação e IPS quase não pesam.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120640" y="3529584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6370" y="3655314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60720" y="34838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+ IEG + IPS + IPP altos = Topázio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5760720" y="38039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 médio 8,42 e 82% viram Topázio. IDA + IEG é a dupla-núcleo (8,18).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Passos Mágicos · Fase 5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5 · 6 · AUTOAVALIAÇÃO, PSICOSSOCIAL E PSICOPEDAGÓGICO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sinais que exigem leitura cuidadosa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71600"/>
            <a:ext cx="502920" cy="502920"/>
          </a:xfrm>
          <a:prstGeom prst="ellipse">
            <a:avLst/>
          </a:prstGeom>
          <a:solidFill>
            <a:srgbClr val="F58634"/>
          </a:solidFill>
          <a:ln w="12700">
            <a:solidFill>
              <a:srgbClr val="F5863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4973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 · autoavaliação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8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superestimam o próprio desempenho em mais de 2 pontos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IDA 3,7 se avalia com 8,5. Correlação com IDA ≤ 0,15: mede autoestima, não é alerta acadêmico.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47288" y="1371600"/>
            <a:ext cx="502920" cy="502920"/>
          </a:xfrm>
          <a:prstGeom prst="ellipse">
            <a:avLst/>
          </a:prstGeom>
          <a:solidFill>
            <a:srgbClr val="16508A"/>
          </a:solidFill>
          <a:ln w="12700">
            <a:solidFill>
              <a:srgbClr val="1650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18" y="14973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6908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· psicossocial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447288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 vs 19%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3447288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queda no engajamento no ano seguinte (IPS baixo vs alto)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447288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real, porém fraco. A escala do IPS mudou em 2023 — padronizar o instrumento.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188720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36208" y="1371600"/>
            <a:ext cx="502920" cy="50292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938" y="149733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85800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· psicopedagógico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236208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0,12</a:t>
            </a:r>
            <a:endParaRPr lang="en-US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6236208" y="25603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correlação com o IAN: confirma a direção, separa pouco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236208" y="32004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mede idade × fase; IPP mede como aprende. IAN baixo + IPP alto = candidato a avançar de fase.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combinada: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sinais sozinho é alerta; o risco aparece quando se somam a engajamento (IEG) e desempenho (IDA) baixos.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Passos Mágicos · Fase 5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11 · EFETIVIDADE DO PROGRAMA E PERMANÊNCIA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Topázio dobrou, mas Quartzo é quem mais sai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5156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Coorte dos 441 alunos presentes nos 3 anos: </a:t>
            </a:r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média −0,83 → −0,24 e IAN 6,7 → 8,1. O programa corrige o atraso escolar; parte da melhora geral também vem da saída de alunos com baixo desempenho.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Passos Mágicos · Fase 5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PREVISÃO DE RISCO COM MACHINE LEARNING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Prever o risco de defasagem um ano 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do ano 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IAN, IDA, IEG, IAA, IPS, IPV, notas, fase, idade + 8 features criadas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232" y="1517904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91840" y="109728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56432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456432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treino/teste 80/20 agrupado por aluno + validação temporal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26480" y="109728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291072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de risco em t+1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291072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defasado ou com defasagem piorando no próximo ciclo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2468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5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0,88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1874520" y="2468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no teste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32004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86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1874520" y="32004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alunos em risco sinalizados (recall)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3931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1874520" y="3931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acurácia vs 65% da regra “já está defasado”</a:t>
            </a:r>
            <a:endParaRPr lang="en-US" sz="11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297680" y="2331720"/>
          <a:ext cx="44805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 17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Passos Mágicos · Fase 5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8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· APLICAÇÃO STREAMLIT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previsão à ação: o app para a equipe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99032"/>
            <a:ext cx="548640" cy="548640"/>
          </a:xfrm>
          <a:prstGeom prst="ellipse">
            <a:avLst/>
          </a:prstGeom>
          <a:solidFill>
            <a:srgbClr val="16508A"/>
          </a:solidFill>
          <a:ln w="12700">
            <a:solidFill>
              <a:srgbClr val="1650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361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280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individual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57276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os indicadores e recebe a probabilidade, a faixa de risco, os sinais de atenção e a ação sugerida.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542032"/>
            <a:ext cx="548640" cy="548640"/>
          </a:xfrm>
          <a:prstGeom prst="ellipse">
            <a:avLst/>
          </a:prstGeom>
          <a:solidFill>
            <a:srgbClr val="F58634"/>
          </a:solidFill>
          <a:ln w="12700">
            <a:solidFill>
              <a:srgbClr val="F5863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91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/ planilha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1371600" y="271576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 aba do PEDE ou um CSV e recebe o ranking de risco de todos os alunos, pronto para baixar.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47472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685032"/>
            <a:ext cx="548640" cy="548640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2219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566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2024 → 2025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85876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ao PEDE 2024: 335 alunos em risco muito alto para 2025, por fase e com lista priorizada.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394960" y="11887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557784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de risco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577840" y="178308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577840" y="17830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858000" y="174650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regular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577840" y="2441448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577840" y="244144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6858000" y="240487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30–49%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IEG mensalmente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577840" y="3099816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58634"/>
          </a:solidFill>
          <a:ln w="12700">
            <a:solidFill>
              <a:srgbClr val="F58634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577840" y="30998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6858000" y="306324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49–70%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individual + avaliar avanço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577840" y="3758184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577840" y="37581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alto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6858000" y="372160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intensivo + família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Datathon Passos Mágicos · Fase 5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7B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movimentos para o próximo ciclo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457200" cy="4572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972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modelo a cada PEDE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priorizar a lista Alto/Muito alto para avaliação de avanço de fase antes dos anos de transição.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457200" cy="457200"/>
          </a:xfrm>
          <a:prstGeom prst="ellipse">
            <a:avLst/>
          </a:prstGeom>
          <a:solidFill>
            <a:srgbClr val="F58634"/>
          </a:solidFill>
          <a:ln w="12700">
            <a:solidFill>
              <a:srgbClr val="F586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28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IEG como termômetro mensal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engajamento é o alerta mais precoce de queda de notas e de saída.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560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de Matemática e Português nas Fases 2–4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vale acadêmico do 5º ao 9º ano se repete nos três anos.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F58634"/>
          </a:solidFill>
          <a:ln w="12700">
            <a:solidFill>
              <a:srgbClr val="F586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918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permanência para Quartzo e Ágata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 a família e tutoria: menos da metade dos Quartzo continua.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F7B32B"/>
          </a:solidFill>
          <a:ln w="12700">
            <a:solidFill>
              <a:srgbClr val="F7B3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23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a coleta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única do IPS, IPP em todos os anos, fase separada de turma e sem notas 0 para "não avaliado".</a:t>
            </a:r>
            <a:endParaRPr lang="en-US" sz="12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54880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31520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github.com/henrique819/FASE_05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Datathon Passos Mágicos — Fase 5</dc:title>
  <dc:subject>PptxGenJS Presentation</dc:subject>
  <dc:creator>PptxGenJS</dc:creator>
  <cp:lastModifiedBy>PptxGenJS</cp:lastModifiedBy>
  <cp:revision>1</cp:revision>
  <dcterms:created xsi:type="dcterms:W3CDTF">2026-09-19T18:33:49Z</dcterms:created>
  <dcterms:modified xsi:type="dcterms:W3CDTF">2026-09-19T18:33:49Z</dcterms:modified>
</cp:coreProperties>
</file>